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Barlow Semi-Bold" charset="1" panose="00000700000000000000"/>
      <p:regular r:id="rId21"/>
    </p:embeddedFont>
    <p:embeddedFont>
      <p:font typeface="Barlow Medium" charset="1" panose="00000600000000000000"/>
      <p:regular r:id="rId22"/>
    </p:embeddedFont>
    <p:embeddedFont>
      <p:font typeface="Barlow Bold" charset="1" panose="00000800000000000000"/>
      <p:regular r:id="rId23"/>
    </p:embeddedFont>
    <p:embeddedFont>
      <p:font typeface="Barlow" charset="1" panose="00000500000000000000"/>
      <p:regular r:id="rId24"/>
    </p:embeddedFont>
    <p:embeddedFont>
      <p:font typeface="Canva Sans" charset="1" panose="020B05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jpeg" Type="http://schemas.openxmlformats.org/officeDocument/2006/relationships/image"/><Relationship Id="rId4" Target="../media/image15.jpeg" Type="http://schemas.openxmlformats.org/officeDocument/2006/relationships/image"/><Relationship Id="rId5" Target="../media/image1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Relationship Id="rId3" Target="../media/image29.png" Type="http://schemas.openxmlformats.org/officeDocument/2006/relationships/image"/><Relationship Id="rId4" Target="../media/image30.jpe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B6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52450"/>
            <a:ext cx="9601200" cy="11544300"/>
          </a:xfrm>
          <a:custGeom>
            <a:avLst/>
            <a:gdLst/>
            <a:ahLst/>
            <a:cxnLst/>
            <a:rect r="r" b="b" t="t" l="l"/>
            <a:pathLst>
              <a:path h="11544300" w="9601200">
                <a:moveTo>
                  <a:pt x="0" y="0"/>
                </a:moveTo>
                <a:lnTo>
                  <a:pt x="9601200" y="0"/>
                </a:lnTo>
                <a:lnTo>
                  <a:pt x="9601200" y="11544300"/>
                </a:lnTo>
                <a:lnTo>
                  <a:pt x="0" y="11544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5381" t="-2505" r="0" b="-1008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10869" y="1028700"/>
            <a:ext cx="5621312" cy="7816743"/>
          </a:xfrm>
          <a:custGeom>
            <a:avLst/>
            <a:gdLst/>
            <a:ahLst/>
            <a:cxnLst/>
            <a:rect r="r" b="b" t="t" l="l"/>
            <a:pathLst>
              <a:path h="7816743" w="5621312">
                <a:moveTo>
                  <a:pt x="0" y="0"/>
                </a:moveTo>
                <a:lnTo>
                  <a:pt x="5621312" y="0"/>
                </a:lnTo>
                <a:lnTo>
                  <a:pt x="5621312" y="7816743"/>
                </a:lnTo>
                <a:lnTo>
                  <a:pt x="0" y="78167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535" r="0" b="-353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3663" y="143884"/>
            <a:ext cx="1837509" cy="1837509"/>
          </a:xfrm>
          <a:custGeom>
            <a:avLst/>
            <a:gdLst/>
            <a:ahLst/>
            <a:cxnLst/>
            <a:rect r="r" b="b" t="t" l="l"/>
            <a:pathLst>
              <a:path h="1837509" w="1837509">
                <a:moveTo>
                  <a:pt x="0" y="0"/>
                </a:moveTo>
                <a:lnTo>
                  <a:pt x="1837510" y="0"/>
                </a:lnTo>
                <a:lnTo>
                  <a:pt x="1837510" y="1837510"/>
                </a:lnTo>
                <a:lnTo>
                  <a:pt x="0" y="18375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867225"/>
            <a:ext cx="1886751" cy="1367894"/>
          </a:xfrm>
          <a:custGeom>
            <a:avLst/>
            <a:gdLst/>
            <a:ahLst/>
            <a:cxnLst/>
            <a:rect r="r" b="b" t="t" l="l"/>
            <a:pathLst>
              <a:path h="1367894" w="1886751">
                <a:moveTo>
                  <a:pt x="0" y="0"/>
                </a:moveTo>
                <a:lnTo>
                  <a:pt x="1886751" y="0"/>
                </a:lnTo>
                <a:lnTo>
                  <a:pt x="1886751" y="1367895"/>
                </a:lnTo>
                <a:lnTo>
                  <a:pt x="0" y="13678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670425"/>
            <a:ext cx="6994911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FursadLearn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9257" y="9576600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 b="true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444840"/>
            <a:ext cx="6901077" cy="36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2"/>
              </a:lnSpc>
            </a:pPr>
            <a:r>
              <a:rPr lang="en-US" sz="2722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By Run Hajir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2258270" y="-349930"/>
            <a:ext cx="7708159" cy="10986860"/>
          </a:xfrm>
          <a:prstGeom prst="rect">
            <a:avLst/>
          </a:prstGeom>
          <a:solidFill>
            <a:srgbClr val="0BB6BC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81519" y="1658511"/>
            <a:ext cx="7751213" cy="106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55"/>
              </a:lnSpc>
            </a:pPr>
            <a:r>
              <a:rPr lang="en-US" b="true" sz="6962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 Problem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1519" y="3171514"/>
            <a:ext cx="10104115" cy="478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0"/>
              </a:lnSpc>
            </a:pPr>
            <a:r>
              <a:rPr lang="en-US" sz="3050" b="true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Many students struggle to find schorlarship,bursaries and free learning opportunities.</a:t>
            </a:r>
          </a:p>
          <a:p>
            <a:pPr algn="l">
              <a:lnSpc>
                <a:spcPts val="4270"/>
              </a:lnSpc>
            </a:pPr>
            <a:r>
              <a:rPr lang="en-US" sz="3050" b="true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Information is scattered across different websites and social media platform.</a:t>
            </a:r>
          </a:p>
          <a:p>
            <a:pPr algn="l">
              <a:lnSpc>
                <a:spcPts val="4270"/>
              </a:lnSpc>
            </a:pPr>
            <a:r>
              <a:rPr lang="en-US" sz="3050" b="true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Student often miss opportunities because they don’t know where to find them and when to apply.</a:t>
            </a:r>
          </a:p>
          <a:p>
            <a:pPr algn="l">
              <a:lnSpc>
                <a:spcPts val="4270"/>
              </a:lnSpc>
            </a:pPr>
          </a:p>
          <a:p>
            <a:pPr algn="l">
              <a:lnSpc>
                <a:spcPts val="4270"/>
              </a:lnSpc>
            </a:pPr>
          </a:p>
          <a:p>
            <a:pPr algn="l">
              <a:lnSpc>
                <a:spcPts val="427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585634" y="1028700"/>
            <a:ext cx="6673666" cy="8229600"/>
          </a:xfrm>
          <a:custGeom>
            <a:avLst/>
            <a:gdLst/>
            <a:ahLst/>
            <a:cxnLst/>
            <a:rect r="r" b="b" t="t" l="l"/>
            <a:pathLst>
              <a:path h="8229600" w="6673666">
                <a:moveTo>
                  <a:pt x="0" y="0"/>
                </a:moveTo>
                <a:lnTo>
                  <a:pt x="6673666" y="0"/>
                </a:lnTo>
                <a:lnTo>
                  <a:pt x="667366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901" t="0" r="-4307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true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10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29257" y="893789"/>
            <a:ext cx="1079292" cy="269823"/>
          </a:xfrm>
          <a:custGeom>
            <a:avLst/>
            <a:gdLst/>
            <a:ahLst/>
            <a:cxnLst/>
            <a:rect r="r" b="b" t="t" l="l"/>
            <a:pathLst>
              <a:path h="269823" w="1079292">
                <a:moveTo>
                  <a:pt x="0" y="0"/>
                </a:moveTo>
                <a:lnTo>
                  <a:pt x="1079292" y="0"/>
                </a:lnTo>
                <a:lnTo>
                  <a:pt x="1079292" y="269822"/>
                </a:lnTo>
                <a:lnTo>
                  <a:pt x="0" y="2698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44798"/>
            <a:ext cx="1059192" cy="1059192"/>
            <a:chOff x="0" y="0"/>
            <a:chExt cx="1412257" cy="141225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412257" cy="1412257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90113E"/>
              </a:solidFill>
            </p:spPr>
          </p:sp>
        </p:grpSp>
        <p:sp>
          <p:nvSpPr>
            <p:cNvPr name="Freeform 5" id="5"/>
            <p:cNvSpPr/>
            <p:nvPr/>
          </p:nvSpPr>
          <p:spPr>
            <a:xfrm flipH="false" flipV="false" rot="0">
              <a:off x="474293" y="543843"/>
              <a:ext cx="463671" cy="324570"/>
            </a:xfrm>
            <a:custGeom>
              <a:avLst/>
              <a:gdLst/>
              <a:ahLst/>
              <a:cxnLst/>
              <a:rect r="r" b="b" t="t" l="l"/>
              <a:pathLst>
                <a:path h="324570" w="463671">
                  <a:moveTo>
                    <a:pt x="0" y="0"/>
                  </a:moveTo>
                  <a:lnTo>
                    <a:pt x="463671" y="0"/>
                  </a:lnTo>
                  <a:lnTo>
                    <a:pt x="463671" y="324570"/>
                  </a:lnTo>
                  <a:lnTo>
                    <a:pt x="0" y="324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599812" y="644792"/>
            <a:ext cx="6659488" cy="7256284"/>
          </a:xfrm>
          <a:custGeom>
            <a:avLst/>
            <a:gdLst/>
            <a:ahLst/>
            <a:cxnLst/>
            <a:rect r="r" b="b" t="t" l="l"/>
            <a:pathLst>
              <a:path h="7256284" w="6659488">
                <a:moveTo>
                  <a:pt x="0" y="0"/>
                </a:moveTo>
                <a:lnTo>
                  <a:pt x="6659488" y="0"/>
                </a:lnTo>
                <a:lnTo>
                  <a:pt x="6659488" y="7256285"/>
                </a:lnTo>
                <a:lnTo>
                  <a:pt x="0" y="72562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844" t="0" r="-37844" b="-749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625742"/>
            <a:ext cx="9571112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b="true" sz="8000" u="none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Solution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true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432121"/>
            <a:ext cx="8416253" cy="306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One Platform: FursadLearn brings scholarship, bursary, and free online course opportunities together in one place.</a:t>
            </a:r>
          </a:p>
          <a:p>
            <a:pPr algn="l" marL="0" indent="0" lvl="0">
              <a:lnSpc>
                <a:spcPts val="48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19626" y="2396782"/>
            <a:ext cx="3257058" cy="6444648"/>
            <a:chOff x="0" y="0"/>
            <a:chExt cx="2620010" cy="5184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4564" t="0" r="-4564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667172"/>
            <a:ext cx="8663715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0"/>
              </a:lnSpc>
              <a:spcBef>
                <a:spcPct val="0"/>
              </a:spcBef>
            </a:pPr>
            <a:r>
              <a:rPr lang="en-US" b="true" sz="8100" u="none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Product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>
                <a:solidFill>
                  <a:srgbClr val="0BB6BC"/>
                </a:solidFill>
                <a:latin typeface="Barlow"/>
                <a:ea typeface="Barlow"/>
                <a:cs typeface="Barlow"/>
                <a:sym typeface="Barlow"/>
              </a:rPr>
              <a:t>04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3732028" y="2396782"/>
            <a:ext cx="3257058" cy="6444648"/>
            <a:chOff x="0" y="0"/>
            <a:chExt cx="2620010" cy="51841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2728" t="0" r="-2728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6989086" y="2396782"/>
            <a:ext cx="3257058" cy="6444648"/>
            <a:chOff x="0" y="0"/>
            <a:chExt cx="2620010" cy="51841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8294" t="0" r="-8294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4" id="34"/>
          <p:cNvGrpSpPr>
            <a:grpSpLocks noChangeAspect="true"/>
          </p:cNvGrpSpPr>
          <p:nvPr/>
        </p:nvGrpSpPr>
        <p:grpSpPr>
          <a:xfrm rot="0">
            <a:off x="10246144" y="2396782"/>
            <a:ext cx="3257058" cy="6444648"/>
            <a:chOff x="0" y="0"/>
            <a:chExt cx="2620010" cy="51841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5421" t="0" r="-5421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723652" y="8982075"/>
            <a:ext cx="206577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b="true" sz="2700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Home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066861" y="8989641"/>
            <a:ext cx="206577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Opportunities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410070" y="8987682"/>
            <a:ext cx="206577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Saved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753279" y="8985722"/>
            <a:ext cx="206577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Profile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00057" y="1034751"/>
            <a:ext cx="9082750" cy="3022640"/>
            <a:chOff x="0" y="0"/>
            <a:chExt cx="12110334" cy="403018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2110334" cy="1638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20"/>
                </a:lnSpc>
              </a:pPr>
              <a:r>
                <a:rPr lang="en-US" b="true" sz="8100">
                  <a:solidFill>
                    <a:srgbClr val="000000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4 OUT 5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23985"/>
              <a:ext cx="12110334" cy="2206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b="true" sz="3199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Students struggle to find reliable information about scholarships, bursaries and free learning opportunity.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00057" y="4158039"/>
            <a:ext cx="9082750" cy="3022640"/>
            <a:chOff x="0" y="0"/>
            <a:chExt cx="12110334" cy="403018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12110334" cy="1638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20"/>
                </a:lnSpc>
              </a:pPr>
              <a:r>
                <a:rPr lang="en-US" b="true" sz="8100">
                  <a:solidFill>
                    <a:srgbClr val="000000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75%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823985"/>
              <a:ext cx="12110334" cy="2206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b="true" sz="3199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Students may miss educational opportunities because information is scattered across different platforms.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100057" y="7056789"/>
            <a:ext cx="9082750" cy="2460665"/>
            <a:chOff x="0" y="0"/>
            <a:chExt cx="12110334" cy="328088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12110334" cy="1638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20"/>
                </a:lnSpc>
              </a:pPr>
              <a:r>
                <a:rPr lang="en-US" b="true" sz="8100">
                  <a:solidFill>
                    <a:srgbClr val="000000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60%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823985"/>
              <a:ext cx="12110334" cy="1456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b="true" sz="3199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Young people need easier access to schalarships, financial support, and free digital skills courses.</a:t>
              </a: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74552" y="4493818"/>
            <a:ext cx="4249772" cy="2479033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4552" y="7932974"/>
            <a:ext cx="4249772" cy="1345761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74552" y="1930507"/>
            <a:ext cx="4249772" cy="1919056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true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8682" y="0"/>
            <a:ext cx="908275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0"/>
              </a:lnSpc>
            </a:pPr>
            <a:r>
              <a:rPr lang="en-US" b="true" sz="8100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Target Market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236754" y="497069"/>
            <a:ext cx="8105036" cy="727146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192856" y="2480827"/>
            <a:ext cx="8795680" cy="163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The Total Addressable Market(TAM): </a:t>
            </a:r>
            <a:r>
              <a:rPr lang="en-US" sz="29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Their are approximately 5 millions students in Kenya.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22869"/>
            <a:ext cx="6896736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0"/>
              </a:lnSpc>
              <a:spcBef>
                <a:spcPct val="0"/>
              </a:spcBef>
            </a:pPr>
            <a:r>
              <a:rPr lang="en-US" b="true" sz="8100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Market Size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92856" y="4257740"/>
            <a:ext cx="8806365" cy="1685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8434" indent="-324217" lvl="1">
              <a:lnSpc>
                <a:spcPts val="4505"/>
              </a:lnSpc>
              <a:buFont typeface="Arial"/>
              <a:buChar char="•"/>
            </a:pPr>
            <a:r>
              <a:rPr lang="en-US" b="true" sz="3003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The Serviceable Addressable Market(SAM):</a:t>
            </a:r>
            <a:r>
              <a:rPr lang="en-US" sz="3003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The  are 3.7 million students who have missed schalarship opportunities.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2856" y="6504366"/>
            <a:ext cx="8806365" cy="1685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8434" indent="-324217" lvl="1">
              <a:lnSpc>
                <a:spcPts val="4505"/>
              </a:lnSpc>
              <a:buFont typeface="Arial"/>
              <a:buChar char="•"/>
            </a:pPr>
            <a:r>
              <a:rPr lang="en-US" b="true" sz="3003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The Serviceable Obtainable Market(SOM):</a:t>
            </a:r>
            <a:r>
              <a:rPr lang="en-US" sz="3003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The are 300 000 students who are actively looking for scholarship and learning opportunities.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703359" y="3971075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3" id="3"/>
          <p:cNvSpPr/>
          <p:nvPr/>
        </p:nvSpPr>
        <p:spPr>
          <a:xfrm rot="0">
            <a:off x="1703359" y="5158824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4" id="4"/>
          <p:cNvSpPr/>
          <p:nvPr/>
        </p:nvSpPr>
        <p:spPr>
          <a:xfrm rot="0">
            <a:off x="1703359" y="7534322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5" id="5"/>
          <p:cNvSpPr/>
          <p:nvPr/>
        </p:nvSpPr>
        <p:spPr>
          <a:xfrm rot="0">
            <a:off x="-602092" y="8998522"/>
            <a:ext cx="18890092" cy="2585870"/>
          </a:xfrm>
          <a:prstGeom prst="rect">
            <a:avLst/>
          </a:prstGeom>
          <a:solidFill>
            <a:srgbClr val="90113E"/>
          </a:solid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232622" y="259778"/>
            <a:ext cx="6812379" cy="8998522"/>
            <a:chOff x="0" y="0"/>
            <a:chExt cx="6438900" cy="85051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38900" cy="8505190"/>
            </a:xfrm>
            <a:custGeom>
              <a:avLst/>
              <a:gdLst/>
              <a:ahLst/>
              <a:cxnLst/>
              <a:rect r="r" b="b" t="t" l="l"/>
              <a:pathLst>
                <a:path h="8505190" w="6438900">
                  <a:moveTo>
                    <a:pt x="4916170" y="8505190"/>
                  </a:moveTo>
                  <a:lnTo>
                    <a:pt x="4627880" y="8505190"/>
                  </a:lnTo>
                  <a:lnTo>
                    <a:pt x="0" y="8072120"/>
                  </a:lnTo>
                  <a:lnTo>
                    <a:pt x="0" y="4405630"/>
                  </a:lnTo>
                  <a:lnTo>
                    <a:pt x="910590" y="0"/>
                  </a:lnTo>
                  <a:lnTo>
                    <a:pt x="6438900" y="0"/>
                  </a:lnTo>
                  <a:lnTo>
                    <a:pt x="6438900" y="671830"/>
                  </a:lnTo>
                  <a:lnTo>
                    <a:pt x="4916170" y="8505190"/>
                  </a:lnTo>
                  <a:close/>
                </a:path>
              </a:pathLst>
            </a:custGeom>
            <a:blipFill>
              <a:blip r:embed="rId2"/>
              <a:stretch>
                <a:fillRect l="-65869" t="0" r="-65869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38900" cy="8505190"/>
            </a:xfrm>
            <a:custGeom>
              <a:avLst/>
              <a:gdLst/>
              <a:ahLst/>
              <a:cxnLst/>
              <a:rect r="r" b="b" t="t" l="l"/>
              <a:pathLst>
                <a:path h="8505190" w="6438900">
                  <a:moveTo>
                    <a:pt x="910590" y="0"/>
                  </a:moveTo>
                  <a:lnTo>
                    <a:pt x="1898650" y="289560"/>
                  </a:lnTo>
                  <a:lnTo>
                    <a:pt x="0" y="4405630"/>
                  </a:lnTo>
                  <a:lnTo>
                    <a:pt x="910590" y="0"/>
                  </a:lnTo>
                  <a:close/>
                  <a:moveTo>
                    <a:pt x="3253740" y="8047990"/>
                  </a:moveTo>
                  <a:lnTo>
                    <a:pt x="4916170" y="8505190"/>
                  </a:lnTo>
                  <a:lnTo>
                    <a:pt x="6438900" y="671830"/>
                  </a:lnTo>
                  <a:lnTo>
                    <a:pt x="3253740" y="8047990"/>
                  </a:lnTo>
                  <a:close/>
                </a:path>
              </a:pathLst>
            </a:custGeom>
            <a:solidFill>
              <a:srgbClr val="0BB6BC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119742" y="2255370"/>
            <a:ext cx="1879522" cy="1278075"/>
          </a:xfrm>
          <a:custGeom>
            <a:avLst/>
            <a:gdLst/>
            <a:ahLst/>
            <a:cxnLst/>
            <a:rect r="r" b="b" t="t" l="l"/>
            <a:pathLst>
              <a:path h="1278075" w="1879522">
                <a:moveTo>
                  <a:pt x="0" y="0"/>
                </a:moveTo>
                <a:lnTo>
                  <a:pt x="1879522" y="0"/>
                </a:lnTo>
                <a:lnTo>
                  <a:pt x="1879522" y="1278075"/>
                </a:lnTo>
                <a:lnTo>
                  <a:pt x="0" y="127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508761" y="257175"/>
            <a:ext cx="8750539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19"/>
              </a:lnSpc>
            </a:pPr>
            <a:r>
              <a:rPr lang="en-US" b="true" sz="8099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Competitors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23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52110" y="2580177"/>
            <a:ext cx="2805566" cy="46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68"/>
              </a:lnSpc>
            </a:pPr>
            <a:r>
              <a:rPr lang="en-US" sz="3014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Ajira   scholars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09640" y="4108057"/>
            <a:ext cx="6471715" cy="46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68"/>
              </a:lnSpc>
            </a:pPr>
            <a:r>
              <a:rPr lang="en-US" sz="3014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T</a:t>
            </a:r>
            <a:r>
              <a:rPr lang="en-US" sz="3014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hey offer   scholarship opportunities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05725" y="1028700"/>
            <a:ext cx="13723873" cy="6359979"/>
            <a:chOff x="0" y="0"/>
            <a:chExt cx="18298498" cy="847997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8298498" cy="1621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66"/>
                </a:lnSpc>
              </a:pPr>
              <a:r>
                <a:rPr lang="en-US" b="true" sz="7971">
                  <a:solidFill>
                    <a:srgbClr val="0BB6BC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Competitive Advantage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18332"/>
              <a:ext cx="16169755" cy="1434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b="true" sz="3149">
                  <a:solidFill>
                    <a:srgbClr val="90113E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We  focus on students in North Eastern Kenya, where access to learning opportunities can be limited.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5181705"/>
              <a:ext cx="16169755" cy="1434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b="true" sz="3149">
                  <a:solidFill>
                    <a:srgbClr val="90113E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We aim to make learning resources accessible to students with limited internet connectivity.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7045079"/>
              <a:ext cx="16169755" cy="1434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b="true" sz="3149">
                  <a:solidFill>
                    <a:srgbClr val="90113E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Students can find courses, scholarships, mentorship, and career opportunities on one platform.</a:t>
              </a:r>
            </a:p>
          </p:txBody>
        </p:sp>
      </p:grpSp>
      <p:sp>
        <p:nvSpPr>
          <p:cNvPr name="AutoShape 7" id="7"/>
          <p:cNvSpPr/>
          <p:nvPr/>
        </p:nvSpPr>
        <p:spPr>
          <a:xfrm rot="0"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name="Freeform 8" id="8"/>
          <p:cNvSpPr/>
          <p:nvPr/>
        </p:nvSpPr>
        <p:spPr>
          <a:xfrm flipH="false" flipV="false" rot="0">
            <a:off x="-1902317" y="-84320"/>
            <a:ext cx="3804634" cy="10455640"/>
          </a:xfrm>
          <a:custGeom>
            <a:avLst/>
            <a:gdLst/>
            <a:ahLst/>
            <a:cxnLst/>
            <a:rect r="r" b="b" t="t" l="l"/>
            <a:pathLst>
              <a:path h="10455640" w="3804634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74813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703359" y="3971075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3" id="3"/>
          <p:cNvSpPr/>
          <p:nvPr/>
        </p:nvSpPr>
        <p:spPr>
          <a:xfrm rot="0">
            <a:off x="1703359" y="5158824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4" id="4"/>
          <p:cNvSpPr/>
          <p:nvPr/>
        </p:nvSpPr>
        <p:spPr>
          <a:xfrm rot="0">
            <a:off x="1703359" y="6346573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5" id="5"/>
          <p:cNvSpPr/>
          <p:nvPr/>
        </p:nvSpPr>
        <p:spPr>
          <a:xfrm rot="0">
            <a:off x="1703359" y="7534322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6" id="6"/>
          <p:cNvSpPr/>
          <p:nvPr/>
        </p:nvSpPr>
        <p:spPr>
          <a:xfrm rot="0">
            <a:off x="1703359" y="3357575"/>
            <a:ext cx="14881282" cy="0"/>
          </a:xfrm>
          <a:prstGeom prst="line">
            <a:avLst/>
          </a:prstGeom>
          <a:ln cap="flat" w="19050">
            <a:solidFill>
              <a:srgbClr val="9011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0">
            <a:off x="1703359" y="8136464"/>
            <a:ext cx="14881282" cy="0"/>
          </a:xfrm>
          <a:prstGeom prst="line">
            <a:avLst/>
          </a:prstGeom>
          <a:ln cap="flat" w="19050">
            <a:solidFill>
              <a:srgbClr val="9011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0">
            <a:off x="8659450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9" id="9"/>
          <p:cNvSpPr/>
          <p:nvPr/>
        </p:nvSpPr>
        <p:spPr>
          <a:xfrm rot="0">
            <a:off x="6673531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0" id="10"/>
          <p:cNvSpPr txBox="true"/>
          <p:nvPr/>
        </p:nvSpPr>
        <p:spPr>
          <a:xfrm rot="0">
            <a:off x="6913736" y="2493356"/>
            <a:ext cx="1524842" cy="793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Agu</a:t>
            </a:r>
          </a:p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week 3-4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75969" y="2493356"/>
            <a:ext cx="1316017" cy="793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Sep</a:t>
            </a:r>
          </a:p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week 1-4</a:t>
            </a:r>
          </a:p>
        </p:txBody>
      </p:sp>
      <p:sp>
        <p:nvSpPr>
          <p:cNvPr name="AutoShape 12" id="12"/>
          <p:cNvSpPr/>
          <p:nvPr/>
        </p:nvSpPr>
        <p:spPr>
          <a:xfrm rot="0">
            <a:off x="10645368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3" id="13"/>
          <p:cNvSpPr txBox="true"/>
          <p:nvPr/>
        </p:nvSpPr>
        <p:spPr>
          <a:xfrm rot="0">
            <a:off x="11108172" y="2490186"/>
            <a:ext cx="1237221" cy="83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7"/>
              </a:lnSpc>
            </a:pPr>
            <a:r>
              <a:rPr lang="en-US" sz="2362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Oct</a:t>
            </a:r>
          </a:p>
          <a:p>
            <a:pPr algn="ctr" marL="0" indent="0" lvl="0">
              <a:lnSpc>
                <a:spcPts val="3307"/>
              </a:lnSpc>
              <a:spcBef>
                <a:spcPct val="0"/>
              </a:spcBef>
            </a:pPr>
            <a:r>
              <a:rPr lang="en-US" sz="2362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week 1-4</a:t>
            </a:r>
          </a:p>
        </p:txBody>
      </p:sp>
      <p:sp>
        <p:nvSpPr>
          <p:cNvPr name="AutoShape 14" id="14"/>
          <p:cNvSpPr/>
          <p:nvPr/>
        </p:nvSpPr>
        <p:spPr>
          <a:xfrm rot="0">
            <a:off x="12631287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5" id="15"/>
          <p:cNvSpPr/>
          <p:nvPr/>
        </p:nvSpPr>
        <p:spPr>
          <a:xfrm rot="0">
            <a:off x="14612169" y="2467083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6" id="16"/>
          <p:cNvSpPr txBox="true"/>
          <p:nvPr/>
        </p:nvSpPr>
        <p:spPr>
          <a:xfrm rot="0">
            <a:off x="12982784" y="2493356"/>
            <a:ext cx="1316017" cy="793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Nov</a:t>
            </a:r>
          </a:p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week 2-4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936191" y="2493356"/>
            <a:ext cx="1316017" cy="793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Dec</a:t>
            </a:r>
          </a:p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week 1-4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68802" y="2696086"/>
            <a:ext cx="437069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Tasks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97743" y="3419744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Conduct market research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97743" y="4022985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Define product feature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97743" y="4626226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Create prototypes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97743" y="5229466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Begin development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97743" y="5832707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Conduct Integration testing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97743" y="6435948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Launch the MVP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97743" y="7039189"/>
            <a:ext cx="5153093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Monitor and analyze user engagement</a:t>
            </a:r>
          </a:p>
        </p:txBody>
      </p:sp>
      <p:sp>
        <p:nvSpPr>
          <p:cNvPr name="AutoShape 26" id="26"/>
          <p:cNvSpPr/>
          <p:nvPr/>
        </p:nvSpPr>
        <p:spPr>
          <a:xfrm rot="0">
            <a:off x="6673184" y="3424302"/>
            <a:ext cx="1972820" cy="0"/>
          </a:xfrm>
          <a:prstGeom prst="line">
            <a:avLst/>
          </a:prstGeom>
          <a:ln cap="flat" w="485775">
            <a:solidFill>
              <a:srgbClr val="9011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0">
            <a:off x="7659594" y="4027543"/>
            <a:ext cx="2972328" cy="0"/>
          </a:xfrm>
          <a:prstGeom prst="line">
            <a:avLst/>
          </a:prstGeom>
          <a:ln cap="flat" w="485775">
            <a:solidFill>
              <a:srgbClr val="0BB6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0">
            <a:off x="7659594" y="4603308"/>
            <a:ext cx="2012985" cy="0"/>
          </a:xfrm>
          <a:prstGeom prst="line">
            <a:avLst/>
          </a:prstGeom>
          <a:ln cap="flat" w="485775">
            <a:solidFill>
              <a:srgbClr val="FF66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rot="0">
            <a:off x="12631287" y="6402324"/>
            <a:ext cx="2962913" cy="0"/>
          </a:xfrm>
          <a:prstGeom prst="line">
            <a:avLst/>
          </a:prstGeom>
          <a:ln cap="flat" w="485775">
            <a:solidFill>
              <a:srgbClr val="0831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rot="0">
            <a:off x="14603759" y="6996645"/>
            <a:ext cx="1980882" cy="0"/>
          </a:xfrm>
          <a:prstGeom prst="line">
            <a:avLst/>
          </a:prstGeom>
          <a:ln cap="flat" w="485775">
            <a:solidFill>
              <a:srgbClr val="CF6E3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rot="0">
            <a:off x="10645368" y="5214576"/>
            <a:ext cx="3966801" cy="0"/>
          </a:xfrm>
          <a:prstGeom prst="line">
            <a:avLst/>
          </a:prstGeom>
          <a:ln cap="flat" w="485775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rot="0">
            <a:off x="9672578" y="5809789"/>
            <a:ext cx="3944944" cy="0"/>
          </a:xfrm>
          <a:prstGeom prst="line">
            <a:avLst/>
          </a:prstGeom>
          <a:ln cap="flat" w="485775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1703359" y="343008"/>
            <a:ext cx="14733814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19"/>
              </a:lnSpc>
            </a:pPr>
            <a:r>
              <a:rPr lang="en-US" b="true" sz="8099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Project Traction</a:t>
            </a:r>
          </a:p>
        </p:txBody>
      </p:sp>
      <p:sp>
        <p:nvSpPr>
          <p:cNvPr name="AutoShape 34" id="34"/>
          <p:cNvSpPr/>
          <p:nvPr/>
        </p:nvSpPr>
        <p:spPr>
          <a:xfrm rot="0">
            <a:off x="-602092" y="8998522"/>
            <a:ext cx="18890092" cy="2585870"/>
          </a:xfrm>
          <a:prstGeom prst="rect">
            <a:avLst/>
          </a:prstGeom>
          <a:solidFill>
            <a:srgbClr val="90113E"/>
          </a:solidFill>
        </p:spPr>
      </p:sp>
      <p:sp>
        <p:nvSpPr>
          <p:cNvPr name="TextBox 35" id="35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23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341197" cy="10287000"/>
            <a:chOff x="0" y="0"/>
            <a:chExt cx="12454930" cy="13716000"/>
          </a:xfrm>
        </p:grpSpPr>
        <p:sp>
          <p:nvSpPr>
            <p:cNvPr name="AutoShape 3" id="3"/>
            <p:cNvSpPr/>
            <p:nvPr/>
          </p:nvSpPr>
          <p:spPr>
            <a:xfrm>
              <a:off x="0" y="0"/>
              <a:ext cx="12454930" cy="13716000"/>
            </a:xfrm>
            <a:prstGeom prst="rect">
              <a:avLst/>
            </a:prstGeom>
            <a:solidFill>
              <a:srgbClr val="0BB6B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2583708"/>
            <a:ext cx="6200420" cy="6200420"/>
          </a:xfrm>
          <a:custGeom>
            <a:avLst/>
            <a:gdLst/>
            <a:ahLst/>
            <a:cxnLst/>
            <a:rect r="r" b="b" t="t" l="l"/>
            <a:pathLst>
              <a:path h="6200420" w="6200420">
                <a:moveTo>
                  <a:pt x="0" y="0"/>
                </a:moveTo>
                <a:lnTo>
                  <a:pt x="6200420" y="0"/>
                </a:lnTo>
                <a:lnTo>
                  <a:pt x="6200420" y="6200420"/>
                </a:lnTo>
                <a:lnTo>
                  <a:pt x="0" y="6200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04813"/>
            <a:ext cx="14733814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19"/>
              </a:lnSpc>
            </a:pPr>
            <a:r>
              <a:rPr lang="en-US" b="true" sz="8099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Business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23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48567" y="-823299"/>
            <a:ext cx="7810733" cy="13555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4"/>
              </a:lnSpc>
            </a:pPr>
          </a:p>
          <a:p>
            <a:pPr algn="ctr">
              <a:lnSpc>
                <a:spcPts val="4184"/>
              </a:lnSpc>
            </a:pPr>
          </a:p>
          <a:p>
            <a:pPr algn="ctr">
              <a:lnSpc>
                <a:spcPts val="4184"/>
              </a:lnSpc>
            </a:pPr>
          </a:p>
          <a:p>
            <a:pPr algn="ctr">
              <a:lnSpc>
                <a:spcPts val="4184"/>
              </a:lnSpc>
            </a:pPr>
          </a:p>
          <a:p>
            <a:pPr algn="ctr">
              <a:lnSpc>
                <a:spcPts val="4184"/>
              </a:lnSpc>
            </a:pPr>
            <a:r>
              <a:rPr lang="en-US" sz="2988" spc="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Subscription-Based Model</a:t>
            </a:r>
          </a:p>
          <a:p>
            <a:pPr algn="ctr">
              <a:lnSpc>
                <a:spcPts val="4184"/>
              </a:lnSpc>
            </a:pPr>
            <a:r>
              <a:rPr lang="en-US" sz="2988" spc="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Basic Plan: Free</a:t>
            </a:r>
          </a:p>
          <a:p>
            <a:pPr algn="ctr">
              <a:lnSpc>
                <a:spcPts val="4184"/>
              </a:lnSpc>
            </a:pPr>
            <a:r>
              <a:rPr lang="en-US" sz="2988" spc="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Student Plan: $2.50/month</a:t>
            </a:r>
          </a:p>
          <a:p>
            <a:pPr algn="ctr">
              <a:lnSpc>
                <a:spcPts val="4184"/>
              </a:lnSpc>
            </a:pPr>
            <a:r>
              <a:rPr lang="en-US" sz="2988" spc="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Institutional Plan: $75/month</a:t>
            </a:r>
          </a:p>
          <a:p>
            <a:pPr algn="ctr">
              <a:lnSpc>
                <a:spcPts val="4184"/>
              </a:lnSpc>
            </a:pPr>
            <a:r>
              <a:rPr lang="en-US" sz="2988" spc="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Targeted Annual Revenue</a:t>
            </a:r>
          </a:p>
          <a:p>
            <a:pPr algn="ctr">
              <a:lnSpc>
                <a:spcPts val="4184"/>
              </a:lnSpc>
            </a:pPr>
            <a:r>
              <a:rPr lang="en-US" sz="2988" spc="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800 students × $2.50 × 12 = $24,000</a:t>
            </a:r>
          </a:p>
          <a:p>
            <a:pPr algn="ctr">
              <a:lnSpc>
                <a:spcPts val="4184"/>
              </a:lnSpc>
            </a:pPr>
            <a:r>
              <a:rPr lang="en-US" sz="2988" spc="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 institutions × $75 × 12 = $13,500</a:t>
            </a:r>
          </a:p>
          <a:p>
            <a:pPr algn="ctr">
              <a:lnSpc>
                <a:spcPts val="4184"/>
              </a:lnSpc>
            </a:pPr>
            <a:r>
              <a:rPr lang="en-US" sz="2988" spc="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Total Revenue: $37,500</a:t>
            </a:r>
          </a:p>
          <a:p>
            <a:pPr algn="ctr">
              <a:lnSpc>
                <a:spcPts val="4184"/>
              </a:lnSpc>
            </a:pPr>
            <a:r>
              <a:rPr lang="en-US" sz="2988" spc="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Estimated Profit: $37,500 − $12,000 costs = $25,500</a:t>
            </a:r>
          </a:p>
          <a:p>
            <a:pPr algn="ctr">
              <a:lnSpc>
                <a:spcPts val="4184"/>
              </a:lnSpc>
            </a:pPr>
            <a:r>
              <a:rPr lang="en-US" sz="2988" spc="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Profit Margin: ($25,500 ÷ $37,500) × 100 = 68%</a:t>
            </a:r>
          </a:p>
          <a:p>
            <a:pPr algn="ctr">
              <a:lnSpc>
                <a:spcPts val="4184"/>
              </a:lnSpc>
            </a:pPr>
          </a:p>
          <a:p>
            <a:pPr algn="ctr">
              <a:lnSpc>
                <a:spcPts val="4184"/>
              </a:lnSpc>
            </a:pPr>
          </a:p>
          <a:p>
            <a:pPr algn="ctr">
              <a:lnSpc>
                <a:spcPts val="4184"/>
              </a:lnSpc>
            </a:pPr>
          </a:p>
          <a:p>
            <a:pPr algn="ctr">
              <a:lnSpc>
                <a:spcPts val="4184"/>
              </a:lnSpc>
            </a:pPr>
          </a:p>
          <a:p>
            <a:pPr algn="ctr">
              <a:lnSpc>
                <a:spcPts val="4184"/>
              </a:lnSpc>
            </a:pPr>
          </a:p>
          <a:p>
            <a:pPr algn="ctr">
              <a:lnSpc>
                <a:spcPts val="4184"/>
              </a:lnSpc>
            </a:pPr>
          </a:p>
          <a:p>
            <a:pPr algn="ctr">
              <a:lnSpc>
                <a:spcPts val="4184"/>
              </a:lnSpc>
            </a:pPr>
          </a:p>
          <a:p>
            <a:pPr algn="ctr">
              <a:lnSpc>
                <a:spcPts val="4184"/>
              </a:lnSpc>
            </a:pPr>
          </a:p>
          <a:p>
            <a:pPr algn="ctr">
              <a:lnSpc>
                <a:spcPts val="8231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-1902317" y="-84320"/>
            <a:ext cx="3804634" cy="10455640"/>
          </a:xfrm>
          <a:custGeom>
            <a:avLst/>
            <a:gdLst/>
            <a:ahLst/>
            <a:cxnLst/>
            <a:rect r="r" b="b" t="t" l="l"/>
            <a:pathLst>
              <a:path h="10455640" w="3804634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7481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50413" y="3661357"/>
            <a:ext cx="8054421" cy="5896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4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Start locally</a:t>
            </a:r>
          </a:p>
          <a:p>
            <a:pPr algn="l">
              <a:lnSpc>
                <a:spcPts val="3461"/>
              </a:lnSpc>
            </a:pPr>
            <a:r>
              <a:rPr lang="en-US" sz="24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 affordable communication channels</a:t>
            </a:r>
          </a:p>
          <a:p>
            <a:pPr algn="l">
              <a:lnSpc>
                <a:spcPts val="3461"/>
              </a:lnSpc>
            </a:pPr>
            <a:r>
              <a:rPr lang="en-US" sz="24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Build partnerships</a:t>
            </a:r>
          </a:p>
          <a:p>
            <a:pPr algn="l">
              <a:lnSpc>
                <a:spcPts val="3461"/>
              </a:lnSpc>
            </a:pPr>
            <a:r>
              <a:rPr lang="en-US" sz="24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Grow through referrals</a:t>
            </a:r>
          </a:p>
          <a:p>
            <a:pPr algn="l">
              <a:lnSpc>
                <a:spcPts val="3014"/>
              </a:lnSpc>
            </a:pPr>
          </a:p>
          <a:p>
            <a:pPr algn="l">
              <a:lnSpc>
                <a:spcPts val="3014"/>
              </a:lnSpc>
            </a:pPr>
          </a:p>
          <a:p>
            <a:pPr algn="l">
              <a:lnSpc>
                <a:spcPts val="3014"/>
              </a:lnSpc>
            </a:pPr>
          </a:p>
          <a:p>
            <a:pPr algn="l">
              <a:lnSpc>
                <a:spcPts val="3014"/>
              </a:lnSpc>
            </a:pPr>
          </a:p>
          <a:p>
            <a:pPr algn="l">
              <a:lnSpc>
                <a:spcPts val="3014"/>
              </a:lnSpc>
            </a:pPr>
          </a:p>
          <a:p>
            <a:pPr algn="l">
              <a:lnSpc>
                <a:spcPts val="3014"/>
              </a:lnSpc>
            </a:pPr>
          </a:p>
          <a:p>
            <a:pPr algn="l">
              <a:lnSpc>
                <a:spcPts val="3014"/>
              </a:lnSpc>
            </a:pPr>
          </a:p>
          <a:p>
            <a:pPr algn="l">
              <a:lnSpc>
                <a:spcPts val="3014"/>
              </a:lnSpc>
            </a:pPr>
          </a:p>
          <a:p>
            <a:pPr algn="l">
              <a:lnSpc>
                <a:spcPts val="3014"/>
              </a:lnSpc>
            </a:pPr>
          </a:p>
          <a:p>
            <a:pPr algn="l">
              <a:lnSpc>
                <a:spcPts val="3014"/>
              </a:lnSpc>
            </a:pPr>
          </a:p>
          <a:p>
            <a:pPr algn="l">
              <a:lnSpc>
                <a:spcPts val="301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382668" y="667172"/>
            <a:ext cx="13944632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0"/>
              </a:lnSpc>
            </a:pPr>
            <a:r>
              <a:rPr lang="en-US" b="true" sz="8100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Go To Market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-1902317" y="-84320"/>
            <a:ext cx="3804634" cy="10455640"/>
          </a:xfrm>
          <a:custGeom>
            <a:avLst/>
            <a:gdLst/>
            <a:ahLst/>
            <a:cxnLst/>
            <a:rect r="r" b="b" t="t" l="l"/>
            <a:pathLst>
              <a:path h="10455640" w="3804634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7481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96497" y="2579698"/>
            <a:ext cx="11764009" cy="561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5"/>
              </a:lnSpc>
            </a:pPr>
          </a:p>
          <a:p>
            <a:pPr algn="l">
              <a:lnSpc>
                <a:spcPts val="4402"/>
              </a:lnSpc>
            </a:pPr>
            <a:r>
              <a:rPr lang="en-US" sz="31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SDG 4: Quality Education</a:t>
            </a:r>
          </a:p>
          <a:p>
            <a:pPr algn="l">
              <a:lnSpc>
                <a:spcPts val="4402"/>
              </a:lnSpc>
            </a:pPr>
            <a:r>
              <a:rPr lang="en-US" sz="31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SDG 8: Decent Work and Economic Growth</a:t>
            </a:r>
          </a:p>
          <a:p>
            <a:pPr algn="l">
              <a:lnSpc>
                <a:spcPts val="4402"/>
              </a:lnSpc>
            </a:pPr>
            <a:r>
              <a:rPr lang="en-US" sz="31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SDG 10: Reduced Inequalitie</a:t>
            </a:r>
          </a:p>
          <a:p>
            <a:pPr algn="l">
              <a:lnSpc>
                <a:spcPts val="4402"/>
              </a:lnSpc>
            </a:pPr>
          </a:p>
          <a:p>
            <a:pPr algn="l">
              <a:lnSpc>
                <a:spcPts val="4402"/>
              </a:lnSpc>
            </a:pPr>
          </a:p>
          <a:p>
            <a:pPr algn="l">
              <a:lnSpc>
                <a:spcPts val="4402"/>
              </a:lnSpc>
            </a:pPr>
          </a:p>
          <a:p>
            <a:pPr algn="l">
              <a:lnSpc>
                <a:spcPts val="4402"/>
              </a:lnSpc>
            </a:pPr>
          </a:p>
          <a:p>
            <a:pPr algn="l">
              <a:lnSpc>
                <a:spcPts val="4402"/>
              </a:lnSpc>
            </a:pPr>
          </a:p>
          <a:p>
            <a:pPr algn="l">
              <a:lnSpc>
                <a:spcPts val="4402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382668" y="667172"/>
            <a:ext cx="13944632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0"/>
              </a:lnSpc>
            </a:pPr>
            <a:r>
              <a:rPr lang="en-US" b="true" sz="8100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Social Impact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48829"/>
            <a:ext cx="12869611" cy="8048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3"/>
              </a:lnSpc>
            </a:pPr>
            <a:r>
              <a:rPr lang="en-US" sz="3962" spc="1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Mentorship from software developers and startup experts.</a:t>
            </a:r>
          </a:p>
          <a:p>
            <a:pPr algn="l">
              <a:lnSpc>
                <a:spcPts val="5943"/>
              </a:lnSpc>
            </a:pPr>
            <a:r>
              <a:rPr lang="en-US" sz="3962" spc="1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Technical support to design and build the first prototype.</a:t>
            </a:r>
          </a:p>
          <a:p>
            <a:pPr algn="l">
              <a:lnSpc>
                <a:spcPts val="5943"/>
              </a:lnSpc>
            </a:pPr>
            <a:r>
              <a:rPr lang="en-US" sz="3962" spc="1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Partnerships with schools, colleges, NGOs, and training providers.</a:t>
            </a:r>
          </a:p>
          <a:p>
            <a:pPr algn="l">
              <a:lnSpc>
                <a:spcPts val="5943"/>
              </a:lnSpc>
            </a:pPr>
            <a:r>
              <a:rPr lang="en-US" sz="3962" spc="1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Pilot users who can test the platform and give honest feedback.</a:t>
            </a:r>
          </a:p>
          <a:p>
            <a:pPr algn="l">
              <a:lnSpc>
                <a:spcPts val="5943"/>
              </a:lnSpc>
            </a:pPr>
            <a:r>
              <a:rPr lang="en-US" sz="3962" spc="1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Resources or funding to support development and initial testing.</a:t>
            </a:r>
          </a:p>
          <a:p>
            <a:pPr algn="l">
              <a:lnSpc>
                <a:spcPts val="8498"/>
              </a:lnSpc>
            </a:pPr>
          </a:p>
          <a:p>
            <a:pPr algn="l">
              <a:lnSpc>
                <a:spcPts val="7931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657822"/>
            <a:ext cx="6896736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0"/>
              </a:lnSpc>
              <a:spcBef>
                <a:spcPct val="0"/>
              </a:spcBef>
            </a:pPr>
            <a:r>
              <a:rPr lang="en-US" b="true" sz="8100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Our Ask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1580768" y="5143500"/>
            <a:ext cx="2637502" cy="2637492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3105725" y="5010959"/>
            <a:ext cx="2637502" cy="2637492"/>
            <a:chOff x="0" y="0"/>
            <a:chExt cx="6350000" cy="63499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0" t="-62245" r="0" b="-62245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7343246" y="5143500"/>
            <a:ext cx="2637502" cy="2637492"/>
            <a:chOff x="0" y="0"/>
            <a:chExt cx="6350000" cy="63499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0" t="-38889" r="0" b="-38889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 rot="0"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name="Freeform 9" id="9"/>
          <p:cNvSpPr/>
          <p:nvPr/>
        </p:nvSpPr>
        <p:spPr>
          <a:xfrm flipH="false" flipV="false" rot="0">
            <a:off x="-1902317" y="-84320"/>
            <a:ext cx="3804634" cy="10455640"/>
          </a:xfrm>
          <a:custGeom>
            <a:avLst/>
            <a:gdLst/>
            <a:ahLst/>
            <a:cxnLst/>
            <a:rect r="r" b="b" t="t" l="l"/>
            <a:pathLst>
              <a:path h="10455640" w="3804634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-174813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05725" y="1822120"/>
            <a:ext cx="13944632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0"/>
              </a:lnSpc>
            </a:pPr>
            <a:r>
              <a:rPr lang="en-US" b="true" sz="8100" u="none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 Team Members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209612" y="8218199"/>
            <a:ext cx="2429727" cy="1063005"/>
            <a:chOff x="0" y="0"/>
            <a:chExt cx="3239636" cy="141734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19050"/>
              <a:ext cx="3239636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90113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RUN HAJIR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816630"/>
              <a:ext cx="3239636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90113E"/>
                  </a:solidFill>
                  <a:latin typeface="Barlow"/>
                  <a:ea typeface="Barlow"/>
                  <a:cs typeface="Barlow"/>
                  <a:sym typeface="Barlow"/>
                </a:rPr>
                <a:t>Founder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39702" y="8218199"/>
            <a:ext cx="2429727" cy="1063005"/>
            <a:chOff x="0" y="0"/>
            <a:chExt cx="3239636" cy="141734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19050"/>
              <a:ext cx="3239636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00"/>
                </a:lnSpc>
              </a:pPr>
              <a:r>
                <a:rPr lang="en-US" b="true" sz="3000" u="none">
                  <a:solidFill>
                    <a:srgbClr val="90113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 ABDI FATAH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816630"/>
              <a:ext cx="3239636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90113E"/>
                  </a:solidFill>
                  <a:latin typeface="Barlow"/>
                  <a:ea typeface="Barlow"/>
                  <a:cs typeface="Barlow"/>
                  <a:sym typeface="Barlow"/>
                </a:rPr>
                <a:t>Co-founder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469792" y="8218199"/>
            <a:ext cx="2429727" cy="1063005"/>
            <a:chOff x="0" y="0"/>
            <a:chExt cx="3239636" cy="141734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19050"/>
              <a:ext cx="3239636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90113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NEEMA ABEY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816630"/>
              <a:ext cx="3239636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90113E"/>
                  </a:solidFill>
                  <a:latin typeface="Barlow"/>
                  <a:ea typeface="Barlow"/>
                  <a:cs typeface="Barlow"/>
                  <a:sym typeface="Barlow"/>
                </a:rPr>
                <a:t>Technical Lead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6495" y="52476"/>
            <a:ext cx="10455640" cy="10455640"/>
          </a:xfrm>
          <a:custGeom>
            <a:avLst/>
            <a:gdLst/>
            <a:ahLst/>
            <a:cxnLst/>
            <a:rect r="r" b="b" t="t" l="l"/>
            <a:pathLst>
              <a:path h="10455640" w="10455640">
                <a:moveTo>
                  <a:pt x="0" y="0"/>
                </a:moveTo>
                <a:lnTo>
                  <a:pt x="10455640" y="0"/>
                </a:lnTo>
                <a:lnTo>
                  <a:pt x="10455640" y="10455641"/>
                </a:lnTo>
                <a:lnTo>
                  <a:pt x="0" y="104556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044460" y="3615931"/>
            <a:ext cx="10199079" cy="3821583"/>
            <a:chOff x="0" y="0"/>
            <a:chExt cx="13598772" cy="509544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285750"/>
              <a:ext cx="13598772" cy="2762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00"/>
                </a:lnSpc>
              </a:pPr>
              <a:r>
                <a:rPr lang="en-US" sz="15000" b="true">
                  <a:solidFill>
                    <a:srgbClr val="0BB6BC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Thank you!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365915"/>
              <a:ext cx="13219076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b="true" sz="3199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Email: runhshurie@gmail.com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89848" y="4387842"/>
              <a:ext cx="13219076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b="true" sz="3199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Tiktok: FursadLearn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892730" y="1028700"/>
            <a:ext cx="2793363" cy="1396681"/>
          </a:xfrm>
          <a:custGeom>
            <a:avLst/>
            <a:gdLst/>
            <a:ahLst/>
            <a:cxnLst/>
            <a:rect r="r" b="b" t="t" l="l"/>
            <a:pathLst>
              <a:path h="1396681" w="2793363">
                <a:moveTo>
                  <a:pt x="0" y="0"/>
                </a:moveTo>
                <a:lnTo>
                  <a:pt x="2793363" y="0"/>
                </a:lnTo>
                <a:lnTo>
                  <a:pt x="2793363" y="1396681"/>
                </a:lnTo>
                <a:lnTo>
                  <a:pt x="0" y="1396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0" y="7848600"/>
            <a:ext cx="2438400" cy="2438400"/>
          </a:xfrm>
          <a:custGeom>
            <a:avLst/>
            <a:gdLst/>
            <a:ahLst/>
            <a:cxnLst/>
            <a:rect r="r" b="b" t="t" l="l"/>
            <a:pathLst>
              <a:path h="2438400" w="2438400">
                <a:moveTo>
                  <a:pt x="2438400" y="0"/>
                </a:moveTo>
                <a:lnTo>
                  <a:pt x="0" y="0"/>
                </a:lnTo>
                <a:lnTo>
                  <a:pt x="0" y="2438400"/>
                </a:lnTo>
                <a:lnTo>
                  <a:pt x="2438400" y="2438400"/>
                </a:lnTo>
                <a:lnTo>
                  <a:pt x="24384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9257" y="893789"/>
            <a:ext cx="1079292" cy="269823"/>
          </a:xfrm>
          <a:custGeom>
            <a:avLst/>
            <a:gdLst/>
            <a:ahLst/>
            <a:cxnLst/>
            <a:rect r="r" b="b" t="t" l="l"/>
            <a:pathLst>
              <a:path h="269823" w="1079292">
                <a:moveTo>
                  <a:pt x="0" y="0"/>
                </a:moveTo>
                <a:lnTo>
                  <a:pt x="1079292" y="0"/>
                </a:lnTo>
                <a:lnTo>
                  <a:pt x="1079292" y="269822"/>
                </a:lnTo>
                <a:lnTo>
                  <a:pt x="0" y="2698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9725622">
            <a:off x="7399902" y="315799"/>
            <a:ext cx="2438400" cy="2438400"/>
          </a:xfrm>
          <a:custGeom>
            <a:avLst/>
            <a:gdLst/>
            <a:ahLst/>
            <a:cxnLst/>
            <a:rect r="r" b="b" t="t" l="l"/>
            <a:pathLst>
              <a:path h="2438400" w="2438400">
                <a:moveTo>
                  <a:pt x="2438400" y="0"/>
                </a:moveTo>
                <a:lnTo>
                  <a:pt x="0" y="0"/>
                </a:lnTo>
                <a:lnTo>
                  <a:pt x="0" y="2438400"/>
                </a:lnTo>
                <a:lnTo>
                  <a:pt x="2438400" y="2438400"/>
                </a:lnTo>
                <a:lnTo>
                  <a:pt x="24384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580734" y="6934146"/>
            <a:ext cx="503369" cy="503369"/>
          </a:xfrm>
          <a:custGeom>
            <a:avLst/>
            <a:gdLst/>
            <a:ahLst/>
            <a:cxnLst/>
            <a:rect r="r" b="b" t="t" l="l"/>
            <a:pathLst>
              <a:path h="503369" w="503369">
                <a:moveTo>
                  <a:pt x="0" y="0"/>
                </a:moveTo>
                <a:lnTo>
                  <a:pt x="503369" y="0"/>
                </a:lnTo>
                <a:lnTo>
                  <a:pt x="503369" y="503368"/>
                </a:lnTo>
                <a:lnTo>
                  <a:pt x="0" y="5033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DAHXuIFXdUI</dc:identifier>
  <dcterms:modified xsi:type="dcterms:W3CDTF">2011-08-01T06:04:30Z</dcterms:modified>
  <cp:revision>1</cp:revision>
  <dc:title>Copy of Copy of Copy of PLP Standard Pitch Deck Template</dc:title>
</cp:coreProperties>
</file>